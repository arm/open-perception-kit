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59"/>
    <p:restoredTop sz="94694"/>
  </p:normalViewPr>
  <p:slideViewPr>
    <p:cSldViewPr snapToGrid="0">
      <p:cViewPr varScale="1">
        <p:scale>
          <a:sx n="105" d="100"/>
          <a:sy n="105" d="100"/>
        </p:scale>
        <p:origin x="200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36E31-E840-BA5F-7D11-A0CDDBC076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FDA4B1-A738-409C-3D98-89B1F20955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E6684-4EF0-8BFA-ED01-D950F9EA4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7E5E1-E5DF-7D40-93FA-DDC6ACB412E5}" type="datetimeFigureOut">
              <a:rPr lang="en-HU" smtClean="0"/>
              <a:t>2026. 02. 13.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D2785-3117-02BA-0DF0-E46C40757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67A7F-C282-7815-B514-B7B5C4A7B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8B81-4D89-4548-A50F-B10759BB3172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2918612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13B3B-462A-0F8B-052B-0912D35B9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2C539-FE90-5CE5-1FEB-553CD6B2C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C61A2-02D9-1700-ECD5-54AE728D1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7E5E1-E5DF-7D40-93FA-DDC6ACB412E5}" type="datetimeFigureOut">
              <a:rPr lang="en-HU" smtClean="0"/>
              <a:t>2026. 02. 13.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0B6F-0706-93C6-963B-E867C0B8F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78632-50E5-9080-6097-56CF678BD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8B81-4D89-4548-A50F-B10759BB3172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841855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17C2C-761C-66E4-57F1-11F705ACC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15B2EE-7960-0DE8-00EE-E0BFA1DC0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0B4BCF-E606-D9F5-674D-FF91476D7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7E5E1-E5DF-7D40-93FA-DDC6ACB412E5}" type="datetimeFigureOut">
              <a:rPr lang="en-HU" smtClean="0"/>
              <a:t>2026. 02. 13.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0A778-944E-9502-12BC-23587A609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59EA7-1D17-4795-EFEE-B907916F6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8B81-4D89-4548-A50F-B10759BB3172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011217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56F95-3B74-EF52-5143-67BD32C05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61EB9-7469-5F08-8B99-8BD63BB971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C026E6-6545-B65E-7E11-55EAE192CE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A93C12-DB01-AD89-AEA1-B3EBD30B4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7E5E1-E5DF-7D40-93FA-DDC6ACB412E5}" type="datetimeFigureOut">
              <a:rPr lang="en-HU" smtClean="0"/>
              <a:t>2026. 02. 13.</a:t>
            </a:fld>
            <a:endParaRPr lang="en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1D2217-BB81-6520-3E83-B5577D6AA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980E24-E17A-EB63-1F9F-EA3903F28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8B81-4D89-4548-A50F-B10759BB3172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3111011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96B93-746D-546A-F694-EDB749854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94B074-5B03-4E14-2131-7789379F8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212DBE-D00C-4CFE-670C-7C21EAD70C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915750-28B5-B4BB-719B-6B132C6EBD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63DDDC-3E19-855A-2EDC-E181708564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C04BB7-FA83-A262-2C45-76528001B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7E5E1-E5DF-7D40-93FA-DDC6ACB412E5}" type="datetimeFigureOut">
              <a:rPr lang="en-HU" smtClean="0"/>
              <a:t>2026. 02. 13.</a:t>
            </a:fld>
            <a:endParaRPr lang="en-H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3B531A-1F39-9F6D-160F-BC41A059E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F7EB51-3627-8221-81E2-19F0C8973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8B81-4D89-4548-A50F-B10759BB3172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358903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C2075-A0AF-2099-C103-A25F29445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928F3A-BD48-84D8-A28A-DDA226CB8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7E5E1-E5DF-7D40-93FA-DDC6ACB412E5}" type="datetimeFigureOut">
              <a:rPr lang="en-HU" smtClean="0"/>
              <a:t>2026. 02. 13.</a:t>
            </a:fld>
            <a:endParaRPr lang="en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57A13A-670A-0CBA-84F8-72D77EE4F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ED6B30-20DD-2DF4-BE0F-D2BFEFADA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8B81-4D89-4548-A50F-B10759BB3172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3172367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D687A9-C167-5DE4-B417-3A53FD779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7E5E1-E5DF-7D40-93FA-DDC6ACB412E5}" type="datetimeFigureOut">
              <a:rPr lang="en-HU" smtClean="0"/>
              <a:t>2026. 02. 13.</a:t>
            </a:fld>
            <a:endParaRPr lang="en-H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D16C47-0166-0AC7-6E6D-139294F22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AC819-40C1-F6DB-99B7-8F0FA16EE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8B81-4D89-4548-A50F-B10759BB3172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2133854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B2C80-8364-93E8-A796-42DA70C14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F16B1-163E-FDEF-E67A-F8E45427D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92FDA6-895D-BA89-06C4-05A6728A3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A29988-AA9A-3387-1CF0-78034E39D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7E5E1-E5DF-7D40-93FA-DDC6ACB412E5}" type="datetimeFigureOut">
              <a:rPr lang="en-HU" smtClean="0"/>
              <a:t>2026. 02. 13.</a:t>
            </a:fld>
            <a:endParaRPr lang="en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93EB6-95BD-E3BF-2827-E1DC43783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5743B0-E26F-81B1-DDBA-FCF5E446C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8B81-4D89-4548-A50F-B10759BB3172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4141393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40082-0D50-DFB1-5484-F341C36AC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E09EC7-4CF3-9E1B-A4F0-2F88851875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62BAC3-29BA-461C-B204-2E5E5CBF6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8F2497-EA50-372E-5494-04CB7069F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7E5E1-E5DF-7D40-93FA-DDC6ACB412E5}" type="datetimeFigureOut">
              <a:rPr lang="en-HU" smtClean="0"/>
              <a:t>2026. 02. 13.</a:t>
            </a:fld>
            <a:endParaRPr lang="en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9E34AE-D6C3-9835-F9A6-8E6FC8172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5BB6F4-AC83-8FC6-3A93-ACB0021B9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8B81-4D89-4548-A50F-B10759BB3172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4142773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9D1BB-F1EB-8ADA-3D13-6CFBAFEB6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C2981C-A002-0063-1D57-917E19C836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55037-3521-E3DB-AE6A-B93B9168D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7E5E1-E5DF-7D40-93FA-DDC6ACB412E5}" type="datetimeFigureOut">
              <a:rPr lang="en-HU" smtClean="0"/>
              <a:t>2026. 02. 13.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3EEF5-3B96-8FF0-35C0-A70647837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2A2319-6F7D-B6FB-D591-25AB6E7E0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8B81-4D89-4548-A50F-B10759BB3172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4287813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77E4AA-6037-B213-E206-65C72F7967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04F9E6-1D32-DE2D-026D-48D4E02C5A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595F5-A75C-D9AF-A8E8-AE4A4D9D3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7E5E1-E5DF-7D40-93FA-DDC6ACB412E5}" type="datetimeFigureOut">
              <a:rPr lang="en-HU" smtClean="0"/>
              <a:t>2026. 02. 13.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6615D-1DE5-16A5-0A94-1CD80E0E2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791DE-C4D7-7215-D0C1-960B92D69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8B81-4D89-4548-A50F-B10759BB3172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075002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6983C3-69A9-FD48-CB59-627D0B9B3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388998-6FD2-593C-BC3C-4A0CBB28A1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019AA-A2E7-1E3F-00E0-3BCBDF49AB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E7E5E1-E5DF-7D40-93FA-DDC6ACB412E5}" type="datetimeFigureOut">
              <a:rPr lang="en-HU" smtClean="0"/>
              <a:t>2026. 02. 13.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639FB-6DC4-45D8-5AEE-DCD79287F7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1D745-E12B-24F9-CFD7-59587FF77B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918B81-4D89-4548-A50F-B10759BB3172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347489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80A7AEF8-DFD9-E579-5C68-7DDEF189F942}"/>
              </a:ext>
            </a:extLst>
          </p:cNvPr>
          <p:cNvSpPr/>
          <p:nvPr/>
        </p:nvSpPr>
        <p:spPr>
          <a:xfrm>
            <a:off x="3265714" y="579510"/>
            <a:ext cx="5569528" cy="51918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039BCD-A66D-8827-9B6E-DD172F2C1C4E}"/>
              </a:ext>
            </a:extLst>
          </p:cNvPr>
          <p:cNvSpPr/>
          <p:nvPr/>
        </p:nvSpPr>
        <p:spPr>
          <a:xfrm>
            <a:off x="3426031" y="2401146"/>
            <a:ext cx="4037762" cy="9020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HU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mp-std-ops/</a:t>
            </a:r>
            <a:r>
              <a:rPr lang="en-GB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GenericImagePreprocess</a:t>
            </a:r>
            <a:endParaRPr lang="en-HU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5F7EEF-C9DA-1682-313A-200880E5314A}"/>
              </a:ext>
            </a:extLst>
          </p:cNvPr>
          <p:cNvSpPr/>
          <p:nvPr/>
        </p:nvSpPr>
        <p:spPr>
          <a:xfrm>
            <a:off x="3434883" y="3578547"/>
            <a:ext cx="4037762" cy="9020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amp-onnx-ops/Inference</a:t>
            </a:r>
            <a:endParaRPr lang="en-HU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DE65CC-A23D-37E1-4054-BCA66196F682}"/>
              </a:ext>
            </a:extLst>
          </p:cNvPr>
          <p:cNvSpPr/>
          <p:nvPr/>
        </p:nvSpPr>
        <p:spPr>
          <a:xfrm>
            <a:off x="3434883" y="4732198"/>
            <a:ext cx="4037762" cy="9020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amp-std-ops/GenericPostprocess</a:t>
            </a:r>
            <a:endParaRPr lang="en-HU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29A495-4D02-3685-35C7-7E9798F75D27}"/>
              </a:ext>
            </a:extLst>
          </p:cNvPr>
          <p:cNvSpPr/>
          <p:nvPr/>
        </p:nvSpPr>
        <p:spPr>
          <a:xfrm>
            <a:off x="3431969" y="1223745"/>
            <a:ext cx="4037762" cy="9020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HU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mp-std-ops/</a:t>
            </a:r>
            <a:r>
              <a:rPr lang="en-GB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InferenceController</a:t>
            </a:r>
            <a:endParaRPr lang="en-HU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285CAE-EB7B-88A4-9940-D1E4D0B62CA4}"/>
              </a:ext>
            </a:extLst>
          </p:cNvPr>
          <p:cNvSpPr txBox="1"/>
          <p:nvPr/>
        </p:nvSpPr>
        <p:spPr>
          <a:xfrm>
            <a:off x="3517505" y="627010"/>
            <a:ext cx="5156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2"/>
                </a:solidFill>
              </a:rPr>
              <a:t>Example opchain a</a:t>
            </a:r>
            <a:r>
              <a:rPr lang="en-HU" sz="2400" b="1" dirty="0">
                <a:solidFill>
                  <a:schemeClr val="bg2"/>
                </a:solidFill>
              </a:rPr>
              <a:t>mpinfer element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A16F23-67FE-D293-C2CF-9BAEA18E7961}"/>
              </a:ext>
            </a:extLst>
          </p:cNvPr>
          <p:cNvSpPr/>
          <p:nvPr/>
        </p:nvSpPr>
        <p:spPr>
          <a:xfrm rot="16200000">
            <a:off x="6083724" y="3046966"/>
            <a:ext cx="4410510" cy="7640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Perception</a:t>
            </a:r>
            <a:endParaRPr lang="en-HU" sz="1600" b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AFABCEB3-8A60-2EE2-23BE-B931E1D5B666}"/>
              </a:ext>
            </a:extLst>
          </p:cNvPr>
          <p:cNvSpPr/>
          <p:nvPr/>
        </p:nvSpPr>
        <p:spPr>
          <a:xfrm>
            <a:off x="5361751" y="2166374"/>
            <a:ext cx="184026" cy="177659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7" name="Down Arrow 16">
            <a:extLst>
              <a:ext uri="{FF2B5EF4-FFF2-40B4-BE49-F238E27FC236}">
                <a16:creationId xmlns:a16="http://schemas.microsoft.com/office/drawing/2014/main" id="{6299CEBA-4225-39F0-9E57-FA9FD54CBDC3}"/>
              </a:ext>
            </a:extLst>
          </p:cNvPr>
          <p:cNvSpPr/>
          <p:nvPr/>
        </p:nvSpPr>
        <p:spPr>
          <a:xfrm rot="16200000">
            <a:off x="7568246" y="1552351"/>
            <a:ext cx="189320" cy="248977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8" name="Down Arrow 17">
            <a:extLst>
              <a:ext uri="{FF2B5EF4-FFF2-40B4-BE49-F238E27FC236}">
                <a16:creationId xmlns:a16="http://schemas.microsoft.com/office/drawing/2014/main" id="{61258C9C-4D4E-C467-F6E1-3CF0451BB733}"/>
              </a:ext>
            </a:extLst>
          </p:cNvPr>
          <p:cNvSpPr/>
          <p:nvPr/>
        </p:nvSpPr>
        <p:spPr>
          <a:xfrm rot="16200000">
            <a:off x="7562308" y="2758478"/>
            <a:ext cx="189320" cy="248977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9" name="Down Arrow 18">
            <a:extLst>
              <a:ext uri="{FF2B5EF4-FFF2-40B4-BE49-F238E27FC236}">
                <a16:creationId xmlns:a16="http://schemas.microsoft.com/office/drawing/2014/main" id="{B1881D4A-2CEE-2D0C-0BE9-913C1D4A23CD}"/>
              </a:ext>
            </a:extLst>
          </p:cNvPr>
          <p:cNvSpPr/>
          <p:nvPr/>
        </p:nvSpPr>
        <p:spPr>
          <a:xfrm rot="16200000">
            <a:off x="7566966" y="3905085"/>
            <a:ext cx="189320" cy="248977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0" name="Down Arrow 19">
            <a:extLst>
              <a:ext uri="{FF2B5EF4-FFF2-40B4-BE49-F238E27FC236}">
                <a16:creationId xmlns:a16="http://schemas.microsoft.com/office/drawing/2014/main" id="{C51EA04A-760A-3633-1469-4EB2C0AEF6FD}"/>
              </a:ext>
            </a:extLst>
          </p:cNvPr>
          <p:cNvSpPr/>
          <p:nvPr/>
        </p:nvSpPr>
        <p:spPr>
          <a:xfrm rot="16200000">
            <a:off x="7562308" y="4998161"/>
            <a:ext cx="189320" cy="248977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1" name="Down Arrow 20">
            <a:extLst>
              <a:ext uri="{FF2B5EF4-FFF2-40B4-BE49-F238E27FC236}">
                <a16:creationId xmlns:a16="http://schemas.microsoft.com/office/drawing/2014/main" id="{D3F56759-0752-363B-FBBF-0E2F34347E04}"/>
              </a:ext>
            </a:extLst>
          </p:cNvPr>
          <p:cNvSpPr/>
          <p:nvPr/>
        </p:nvSpPr>
        <p:spPr>
          <a:xfrm>
            <a:off x="5361751" y="3353907"/>
            <a:ext cx="184026" cy="177659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2" name="Down Arrow 21">
            <a:extLst>
              <a:ext uri="{FF2B5EF4-FFF2-40B4-BE49-F238E27FC236}">
                <a16:creationId xmlns:a16="http://schemas.microsoft.com/office/drawing/2014/main" id="{24445520-ABC8-22E0-0503-339D5CEE5473}"/>
              </a:ext>
            </a:extLst>
          </p:cNvPr>
          <p:cNvSpPr/>
          <p:nvPr/>
        </p:nvSpPr>
        <p:spPr>
          <a:xfrm>
            <a:off x="5340990" y="4513937"/>
            <a:ext cx="184026" cy="177659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317719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0B2C630-BBEA-6ECC-F808-AF3E87882CAD}"/>
              </a:ext>
            </a:extLst>
          </p:cNvPr>
          <p:cNvSpPr/>
          <p:nvPr/>
        </p:nvSpPr>
        <p:spPr>
          <a:xfrm>
            <a:off x="172300" y="782893"/>
            <a:ext cx="1713611" cy="9659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b="1" dirty="0"/>
              <a:t>Video source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6A012D0-0E36-2618-7F0F-87F3741D67FB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1885911" y="1265854"/>
            <a:ext cx="26352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94C01EC-1459-DC50-C01A-9CEF1A6FE857}"/>
              </a:ext>
            </a:extLst>
          </p:cNvPr>
          <p:cNvSpPr/>
          <p:nvPr/>
        </p:nvSpPr>
        <p:spPr>
          <a:xfrm>
            <a:off x="2149434" y="782893"/>
            <a:ext cx="1713611" cy="9659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b="1" dirty="0"/>
              <a:t>Yolo object detector inference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2288202-E4E0-AD47-E375-BB6710AA7DA1}"/>
              </a:ext>
            </a:extLst>
          </p:cNvPr>
          <p:cNvSpPr/>
          <p:nvPr/>
        </p:nvSpPr>
        <p:spPr>
          <a:xfrm>
            <a:off x="2142976" y="2542363"/>
            <a:ext cx="1713611" cy="175659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sz="1200" b="1" dirty="0"/>
              <a:t>Perception</a:t>
            </a:r>
          </a:p>
          <a:p>
            <a:pPr algn="ctr"/>
            <a:r>
              <a:rPr lang="en-HU" sz="1200" b="1" dirty="0"/>
              <a:t>Context attachments:</a:t>
            </a:r>
          </a:p>
          <a:p>
            <a:pPr algn="ctr"/>
            <a:endParaRPr lang="en-HU" sz="1200" b="1" dirty="0"/>
          </a:p>
          <a:p>
            <a:pPr algn="ctr"/>
            <a:r>
              <a:rPr lang="en-GB" sz="1600" b="1" dirty="0"/>
              <a:t>O</a:t>
            </a:r>
            <a:r>
              <a:rPr lang="en-HU" sz="1600" b="1" dirty="0"/>
              <a:t>bject rectangles and labels</a:t>
            </a:r>
            <a:endParaRPr lang="en-HU" sz="1200" b="1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4415999-F57B-3D04-6409-B3156B70CA59}"/>
              </a:ext>
            </a:extLst>
          </p:cNvPr>
          <p:cNvSpPr/>
          <p:nvPr/>
        </p:nvSpPr>
        <p:spPr>
          <a:xfrm>
            <a:off x="4126568" y="782893"/>
            <a:ext cx="1713611" cy="9659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b="1" dirty="0"/>
              <a:t>UltraFace</a:t>
            </a:r>
          </a:p>
          <a:p>
            <a:pPr algn="ctr"/>
            <a:r>
              <a:rPr lang="en-GB" b="1" dirty="0"/>
              <a:t>f</a:t>
            </a:r>
            <a:r>
              <a:rPr lang="en-HU" b="1" dirty="0"/>
              <a:t>ace detector inference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002AE7B-E083-8EC4-7558-F91079011B77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3863045" y="1265854"/>
            <a:ext cx="26352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564983F-E18E-D92F-B369-D89C7B4AD6CD}"/>
              </a:ext>
            </a:extLst>
          </p:cNvPr>
          <p:cNvSpPr/>
          <p:nvPr/>
        </p:nvSpPr>
        <p:spPr>
          <a:xfrm>
            <a:off x="4120110" y="2542360"/>
            <a:ext cx="1713611" cy="242047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sz="1200" b="1" dirty="0"/>
              <a:t>Perception</a:t>
            </a:r>
          </a:p>
          <a:p>
            <a:pPr algn="ctr"/>
            <a:r>
              <a:rPr lang="en-HU" sz="1200" b="1" dirty="0"/>
              <a:t>Context attachments:</a:t>
            </a:r>
          </a:p>
          <a:p>
            <a:pPr algn="ctr"/>
            <a:endParaRPr lang="en-HU" sz="1200" b="1" dirty="0"/>
          </a:p>
          <a:p>
            <a:pPr algn="ctr"/>
            <a:r>
              <a:rPr lang="en-GB" sz="1600" b="1" dirty="0"/>
              <a:t>O</a:t>
            </a:r>
            <a:r>
              <a:rPr lang="en-HU" sz="1600" b="1" dirty="0"/>
              <a:t>bject rectangles and labels</a:t>
            </a:r>
          </a:p>
          <a:p>
            <a:pPr algn="ctr"/>
            <a:endParaRPr lang="en-HU" sz="1600" b="1" dirty="0"/>
          </a:p>
          <a:p>
            <a:pPr algn="ctr"/>
            <a:r>
              <a:rPr lang="en-HU" sz="1600" b="1" dirty="0"/>
              <a:t>Human face rectangles</a:t>
            </a:r>
            <a:endParaRPr lang="en-HU" sz="1200" b="1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8D79CBE-6DE2-51E5-78FA-CAAD9B44396F}"/>
              </a:ext>
            </a:extLst>
          </p:cNvPr>
          <p:cNvSpPr/>
          <p:nvPr/>
        </p:nvSpPr>
        <p:spPr>
          <a:xfrm>
            <a:off x="8080836" y="770929"/>
            <a:ext cx="1713611" cy="9659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Face recognition inference</a:t>
            </a:r>
            <a:endParaRPr lang="en-HU" b="1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6344D7A-7588-B82E-5A0B-DC2AEFD3BFD9}"/>
              </a:ext>
            </a:extLst>
          </p:cNvPr>
          <p:cNvCxnSpPr>
            <a:cxnSpLocks/>
            <a:stCxn id="8" idx="3"/>
            <a:endCxn id="14" idx="1"/>
          </p:cNvCxnSpPr>
          <p:nvPr/>
        </p:nvCxnSpPr>
        <p:spPr>
          <a:xfrm>
            <a:off x="5840179" y="1265854"/>
            <a:ext cx="26352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B39E48C-26D7-F4C1-19CF-A5202577CE91}"/>
              </a:ext>
            </a:extLst>
          </p:cNvPr>
          <p:cNvSpPr/>
          <p:nvPr/>
        </p:nvSpPr>
        <p:spPr>
          <a:xfrm>
            <a:off x="6097244" y="2542360"/>
            <a:ext cx="1713611" cy="299162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sz="1200" b="1" dirty="0"/>
              <a:t>Perception</a:t>
            </a:r>
          </a:p>
          <a:p>
            <a:pPr algn="ctr"/>
            <a:r>
              <a:rPr lang="en-HU" sz="1200" b="1" dirty="0"/>
              <a:t>Context attachments:</a:t>
            </a:r>
          </a:p>
          <a:p>
            <a:pPr algn="ctr"/>
            <a:endParaRPr lang="en-HU" sz="1200" b="1" dirty="0"/>
          </a:p>
          <a:p>
            <a:pPr algn="ctr"/>
            <a:r>
              <a:rPr lang="en-GB" sz="1600" b="1" dirty="0"/>
              <a:t>O</a:t>
            </a:r>
            <a:r>
              <a:rPr lang="en-HU" sz="1600" b="1" dirty="0"/>
              <a:t>bject rectangles and labels</a:t>
            </a:r>
          </a:p>
          <a:p>
            <a:pPr algn="ctr"/>
            <a:endParaRPr lang="en-HU" sz="1600" b="1" dirty="0"/>
          </a:p>
          <a:p>
            <a:pPr algn="ctr"/>
            <a:r>
              <a:rPr lang="en-HU" sz="1600" b="1" dirty="0"/>
              <a:t>Human face rectangles</a:t>
            </a:r>
          </a:p>
          <a:p>
            <a:pPr algn="ctr"/>
            <a:endParaRPr lang="en-HU" sz="1600" b="1" dirty="0"/>
          </a:p>
          <a:p>
            <a:pPr algn="ctr"/>
            <a:r>
              <a:rPr lang="en-HU" sz="1600" b="1" dirty="0"/>
              <a:t>EntityId</a:t>
            </a:r>
            <a:endParaRPr lang="en-HU" sz="1200" b="1"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50A1078-1422-196B-B103-78D6C39EA443}"/>
              </a:ext>
            </a:extLst>
          </p:cNvPr>
          <p:cNvSpPr/>
          <p:nvPr/>
        </p:nvSpPr>
        <p:spPr>
          <a:xfrm>
            <a:off x="6103702" y="782893"/>
            <a:ext cx="1713611" cy="9659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Tracker</a:t>
            </a:r>
            <a:endParaRPr lang="en-HU" b="1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C82BAE2-BAFD-F550-5BB0-8A668021093A}"/>
              </a:ext>
            </a:extLst>
          </p:cNvPr>
          <p:cNvCxnSpPr>
            <a:cxnSpLocks/>
          </p:cNvCxnSpPr>
          <p:nvPr/>
        </p:nvCxnSpPr>
        <p:spPr>
          <a:xfrm>
            <a:off x="7812853" y="1282821"/>
            <a:ext cx="26352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59E8FC1-9D45-9274-7696-236A97D2119C}"/>
              </a:ext>
            </a:extLst>
          </p:cNvPr>
          <p:cNvSpPr/>
          <p:nvPr/>
        </p:nvSpPr>
        <p:spPr>
          <a:xfrm>
            <a:off x="8074378" y="2466139"/>
            <a:ext cx="1713611" cy="349535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sz="1200" b="1" dirty="0"/>
              <a:t>Perception</a:t>
            </a:r>
          </a:p>
          <a:p>
            <a:pPr algn="ctr"/>
            <a:r>
              <a:rPr lang="en-HU" sz="1200" b="1" dirty="0"/>
              <a:t>Context attachments:</a:t>
            </a:r>
          </a:p>
          <a:p>
            <a:pPr algn="ctr"/>
            <a:endParaRPr lang="en-HU" sz="1200" b="1" dirty="0"/>
          </a:p>
          <a:p>
            <a:pPr algn="ctr"/>
            <a:r>
              <a:rPr lang="en-GB" sz="1600" b="1" dirty="0"/>
              <a:t>O</a:t>
            </a:r>
            <a:r>
              <a:rPr lang="en-HU" sz="1600" b="1" dirty="0"/>
              <a:t>bject rectangles and labels</a:t>
            </a:r>
          </a:p>
          <a:p>
            <a:pPr algn="ctr"/>
            <a:endParaRPr lang="en-HU" sz="1600" b="1" dirty="0"/>
          </a:p>
          <a:p>
            <a:pPr algn="ctr"/>
            <a:r>
              <a:rPr lang="en-HU" sz="1600" b="1" dirty="0"/>
              <a:t>Human face rectangles</a:t>
            </a:r>
          </a:p>
          <a:p>
            <a:pPr algn="ctr"/>
            <a:endParaRPr lang="en-HU" sz="1600" b="1" dirty="0"/>
          </a:p>
          <a:p>
            <a:pPr algn="ctr"/>
            <a:r>
              <a:rPr lang="en-HU" sz="1600" b="1" dirty="0"/>
              <a:t>EntityId</a:t>
            </a:r>
          </a:p>
          <a:p>
            <a:pPr algn="ctr"/>
            <a:endParaRPr lang="en-HU" sz="1600" b="1" dirty="0"/>
          </a:p>
          <a:p>
            <a:pPr algn="ctr"/>
            <a:r>
              <a:rPr lang="en-HU" sz="1600" b="1" dirty="0"/>
              <a:t>PersonId</a:t>
            </a:r>
            <a:endParaRPr lang="en-HU" sz="1200" b="1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7EDA51A-1D67-E95C-9111-615E80AAF5C1}"/>
              </a:ext>
            </a:extLst>
          </p:cNvPr>
          <p:cNvCxnSpPr>
            <a:stCxn id="6" idx="2"/>
            <a:endCxn id="7" idx="0"/>
          </p:cNvCxnSpPr>
          <p:nvPr/>
        </p:nvCxnSpPr>
        <p:spPr>
          <a:xfrm flipH="1">
            <a:off x="2999782" y="1748815"/>
            <a:ext cx="6458" cy="79354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446C612-7808-7CB7-49C4-29D60F7B1A64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 flipH="1">
            <a:off x="4976916" y="1748815"/>
            <a:ext cx="6458" cy="79354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B09D0A1-3EB0-6AE8-0994-93367BB53D49}"/>
              </a:ext>
            </a:extLst>
          </p:cNvPr>
          <p:cNvCxnSpPr>
            <a:cxnSpLocks/>
            <a:stCxn id="14" idx="2"/>
            <a:endCxn id="13" idx="0"/>
          </p:cNvCxnSpPr>
          <p:nvPr/>
        </p:nvCxnSpPr>
        <p:spPr>
          <a:xfrm flipH="1">
            <a:off x="6954050" y="1748815"/>
            <a:ext cx="6458" cy="79354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3AF397F-7DC8-B0F9-E727-7B0642523037}"/>
              </a:ext>
            </a:extLst>
          </p:cNvPr>
          <p:cNvCxnSpPr>
            <a:cxnSpLocks/>
            <a:stCxn id="11" idx="2"/>
            <a:endCxn id="16" idx="0"/>
          </p:cNvCxnSpPr>
          <p:nvPr/>
        </p:nvCxnSpPr>
        <p:spPr>
          <a:xfrm flipH="1">
            <a:off x="8931184" y="1736851"/>
            <a:ext cx="6458" cy="72928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B86ADE1-4D23-3A51-6CBD-AE616CDE1557}"/>
              </a:ext>
            </a:extLst>
          </p:cNvPr>
          <p:cNvSpPr/>
          <p:nvPr/>
        </p:nvSpPr>
        <p:spPr>
          <a:xfrm>
            <a:off x="10042566" y="782893"/>
            <a:ext cx="1713611" cy="9659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Messaging </a:t>
            </a:r>
            <a:r>
              <a:rPr lang="en-US" sz="1400" b="1" dirty="0"/>
              <a:t>triggers backend events: open door, etc.</a:t>
            </a:r>
            <a:endParaRPr lang="en-HU" sz="1400" b="1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9BC4AC3-1DC1-26F7-5696-21E7EF71581C}"/>
              </a:ext>
            </a:extLst>
          </p:cNvPr>
          <p:cNvCxnSpPr>
            <a:cxnSpLocks/>
            <a:stCxn id="11" idx="3"/>
            <a:endCxn id="21" idx="1"/>
          </p:cNvCxnSpPr>
          <p:nvPr/>
        </p:nvCxnSpPr>
        <p:spPr>
          <a:xfrm>
            <a:off x="9794447" y="1253890"/>
            <a:ext cx="248119" cy="119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F4047FF-6BBD-A0D1-9D49-9A0FDB514F27}"/>
              </a:ext>
            </a:extLst>
          </p:cNvPr>
          <p:cNvSpPr/>
          <p:nvPr/>
        </p:nvSpPr>
        <p:spPr>
          <a:xfrm>
            <a:off x="10150580" y="2466139"/>
            <a:ext cx="1713611" cy="349535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sz="1200" b="1" dirty="0"/>
              <a:t>Perception</a:t>
            </a:r>
          </a:p>
          <a:p>
            <a:pPr algn="ctr"/>
            <a:r>
              <a:rPr lang="en-HU" sz="1200" b="1" dirty="0"/>
              <a:t>Context attachments:</a:t>
            </a:r>
          </a:p>
          <a:p>
            <a:pPr algn="ctr"/>
            <a:endParaRPr lang="en-HU" sz="1200" b="1" dirty="0"/>
          </a:p>
          <a:p>
            <a:pPr algn="ctr"/>
            <a:r>
              <a:rPr lang="en-GB" sz="1600" b="1" dirty="0"/>
              <a:t>O</a:t>
            </a:r>
            <a:r>
              <a:rPr lang="en-HU" sz="1600" b="1" dirty="0"/>
              <a:t>bject rectangles and labels</a:t>
            </a:r>
          </a:p>
          <a:p>
            <a:pPr algn="ctr"/>
            <a:endParaRPr lang="en-HU" sz="1600" b="1" dirty="0"/>
          </a:p>
          <a:p>
            <a:pPr algn="ctr"/>
            <a:r>
              <a:rPr lang="en-HU" sz="1600" b="1" dirty="0"/>
              <a:t>Human face rectangles</a:t>
            </a:r>
          </a:p>
          <a:p>
            <a:pPr algn="ctr"/>
            <a:endParaRPr lang="en-HU" sz="1600" b="1" dirty="0"/>
          </a:p>
          <a:p>
            <a:pPr algn="ctr"/>
            <a:r>
              <a:rPr lang="en-HU" sz="1600" b="1" dirty="0"/>
              <a:t>EntityId</a:t>
            </a:r>
          </a:p>
          <a:p>
            <a:pPr algn="ctr"/>
            <a:endParaRPr lang="en-HU" sz="1600" b="1" dirty="0"/>
          </a:p>
          <a:p>
            <a:pPr algn="ctr"/>
            <a:r>
              <a:rPr lang="en-HU" sz="1600" b="1" dirty="0"/>
              <a:t>PersonId</a:t>
            </a:r>
            <a:endParaRPr lang="en-HU" sz="1200" b="1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D8FA37E-002B-8FF5-9882-27A420DE5C68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11007386" y="1748815"/>
            <a:ext cx="0" cy="71732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57266AA-E294-459D-387B-9CA54DCB7CE7}"/>
              </a:ext>
            </a:extLst>
          </p:cNvPr>
          <p:cNvCxnSpPr>
            <a:cxnSpLocks/>
          </p:cNvCxnSpPr>
          <p:nvPr/>
        </p:nvCxnSpPr>
        <p:spPr>
          <a:xfrm>
            <a:off x="11756177" y="1282821"/>
            <a:ext cx="26352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78DC7D0-A96C-4762-E2B4-616375A183C3}"/>
              </a:ext>
            </a:extLst>
          </p:cNvPr>
          <p:cNvSpPr txBox="1"/>
          <p:nvPr/>
        </p:nvSpPr>
        <p:spPr>
          <a:xfrm>
            <a:off x="0" y="27864"/>
            <a:ext cx="12046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HU" sz="3600" b="1" dirty="0">
                <a:latin typeface="Consolas" panose="020B0609020204030204" pitchFamily="49" charset="0"/>
                <a:cs typeface="Consolas" panose="020B0609020204030204" pitchFamily="49" charset="0"/>
              </a:rPr>
              <a:t>Inference Data Collection (Perception)</a:t>
            </a:r>
          </a:p>
        </p:txBody>
      </p:sp>
    </p:spTree>
    <p:extLst>
      <p:ext uri="{BB962C8B-B14F-4D97-AF65-F5344CB8AC3E}">
        <p14:creationId xmlns:p14="http://schemas.microsoft.com/office/powerpoint/2010/main" val="2526206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AC2D0D-B2AD-DBEC-579B-BBD12CEC66B0}"/>
              </a:ext>
            </a:extLst>
          </p:cNvPr>
          <p:cNvSpPr/>
          <p:nvPr/>
        </p:nvSpPr>
        <p:spPr>
          <a:xfrm>
            <a:off x="1779055" y="2354306"/>
            <a:ext cx="2749136" cy="19130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sz="2000" b="1" dirty="0"/>
              <a:t>Container</a:t>
            </a:r>
            <a:endParaRPr lang="en-HU" b="1" dirty="0"/>
          </a:p>
          <a:p>
            <a:pPr algn="ctr"/>
            <a:r>
              <a:rPr lang="en-HU" dirty="0"/>
              <a:t>executes pipeline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52482A-FD0E-69C2-C1B0-A1A1FE4FDD4B}"/>
              </a:ext>
            </a:extLst>
          </p:cNvPr>
          <p:cNvSpPr/>
          <p:nvPr/>
        </p:nvSpPr>
        <p:spPr>
          <a:xfrm>
            <a:off x="7885533" y="2354306"/>
            <a:ext cx="2749136" cy="19130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sz="2000" b="1" dirty="0"/>
              <a:t>Host Web Browser</a:t>
            </a:r>
            <a:endParaRPr lang="en-HU" b="1" dirty="0"/>
          </a:p>
          <a:p>
            <a:pPr algn="ctr"/>
            <a:r>
              <a:rPr lang="en-GB" dirty="0"/>
              <a:t>presents</a:t>
            </a:r>
            <a:r>
              <a:rPr lang="en-HU" dirty="0"/>
              <a:t> media and handles input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36D1C21-39DE-1679-59B4-B2478EF40419}"/>
              </a:ext>
            </a:extLst>
          </p:cNvPr>
          <p:cNvCxnSpPr/>
          <p:nvPr/>
        </p:nvCxnSpPr>
        <p:spPr>
          <a:xfrm>
            <a:off x="4528191" y="4087740"/>
            <a:ext cx="335734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A7FA657-B2C2-60CB-D138-FDD8E5558619}"/>
              </a:ext>
            </a:extLst>
          </p:cNvPr>
          <p:cNvCxnSpPr>
            <a:cxnSpLocks/>
          </p:cNvCxnSpPr>
          <p:nvPr/>
        </p:nvCxnSpPr>
        <p:spPr>
          <a:xfrm flipH="1">
            <a:off x="4528191" y="3780701"/>
            <a:ext cx="335734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2CF9E3D-9F9F-B8A6-B3FC-EA4949358F82}"/>
              </a:ext>
            </a:extLst>
          </p:cNvPr>
          <p:cNvCxnSpPr>
            <a:cxnSpLocks/>
          </p:cNvCxnSpPr>
          <p:nvPr/>
        </p:nvCxnSpPr>
        <p:spPr>
          <a:xfrm flipH="1">
            <a:off x="4528191" y="2648988"/>
            <a:ext cx="335734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1B184AB-0E13-B984-930F-6B670E0F1C83}"/>
              </a:ext>
            </a:extLst>
          </p:cNvPr>
          <p:cNvSpPr txBox="1"/>
          <p:nvPr/>
        </p:nvSpPr>
        <p:spPr>
          <a:xfrm>
            <a:off x="4893618" y="3411369"/>
            <a:ext cx="262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U" dirty="0"/>
              <a:t>REST control commands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F16968-75AA-1DCE-5E80-A4B5190213D4}"/>
              </a:ext>
            </a:extLst>
          </p:cNvPr>
          <p:cNvSpPr txBox="1"/>
          <p:nvPr/>
        </p:nvSpPr>
        <p:spPr>
          <a:xfrm>
            <a:off x="5261337" y="2252847"/>
            <a:ext cx="1514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U" dirty="0"/>
              <a:t>Webcam/Mic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96C9BA2-6C37-75E2-C03A-6E6D0796AB03}"/>
              </a:ext>
            </a:extLst>
          </p:cNvPr>
          <p:cNvSpPr/>
          <p:nvPr/>
        </p:nvSpPr>
        <p:spPr>
          <a:xfrm>
            <a:off x="3153623" y="3663743"/>
            <a:ext cx="1307787" cy="522903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sz="1400" b="1" dirty="0"/>
              <a:t>AmpSink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2F3DAE5-14C0-9609-FB55-11DCF815E69D}"/>
              </a:ext>
            </a:extLst>
          </p:cNvPr>
          <p:cNvSpPr/>
          <p:nvPr/>
        </p:nvSpPr>
        <p:spPr>
          <a:xfrm>
            <a:off x="3153622" y="2416896"/>
            <a:ext cx="1307787" cy="522903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sz="1400" b="1" dirty="0"/>
              <a:t>AmpSource</a:t>
            </a:r>
          </a:p>
        </p:txBody>
      </p:sp>
    </p:spTree>
    <p:extLst>
      <p:ext uri="{BB962C8B-B14F-4D97-AF65-F5344CB8AC3E}">
        <p14:creationId xmlns:p14="http://schemas.microsoft.com/office/powerpoint/2010/main" val="930730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E7F998C-E105-A5CE-F8C3-CE9298070640}"/>
              </a:ext>
            </a:extLst>
          </p:cNvPr>
          <p:cNvSpPr/>
          <p:nvPr/>
        </p:nvSpPr>
        <p:spPr>
          <a:xfrm>
            <a:off x="6723704" y="2066307"/>
            <a:ext cx="4040988" cy="1769422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b="1" dirty="0"/>
              <a:t>AMP-Model</a:t>
            </a:r>
          </a:p>
          <a:p>
            <a:pPr algn="ctr"/>
            <a:r>
              <a:rPr lang="en-HU" sz="1400" dirty="0"/>
              <a:t>API agnostic</a:t>
            </a:r>
          </a:p>
          <a:p>
            <a:pPr algn="ctr"/>
            <a:r>
              <a:rPr lang="en-HU" sz="1400" dirty="0"/>
              <a:t>Generic model descriptor</a:t>
            </a:r>
          </a:p>
          <a:p>
            <a:pPr algn="ctr"/>
            <a:r>
              <a:rPr lang="en-HU" sz="1400" dirty="0"/>
              <a:t>Input-output formats</a:t>
            </a:r>
          </a:p>
          <a:p>
            <a:pPr algn="ctr"/>
            <a:r>
              <a:rPr lang="en-HU" sz="1400" dirty="0"/>
              <a:t>Input builder type</a:t>
            </a:r>
          </a:p>
          <a:p>
            <a:pPr algn="ctr"/>
            <a:r>
              <a:rPr lang="en-HU" sz="1400" dirty="0"/>
              <a:t>Postprocessor type</a:t>
            </a:r>
          </a:p>
          <a:p>
            <a:pPr algn="ctr"/>
            <a:r>
              <a:rPr lang="en-HU" sz="1400" dirty="0"/>
              <a:t>Inference config</a:t>
            </a:r>
            <a:endParaRPr lang="en-HU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29E9CD7-FC1F-16B0-6EB3-2277D8077D1E}"/>
              </a:ext>
            </a:extLst>
          </p:cNvPr>
          <p:cNvSpPr/>
          <p:nvPr/>
        </p:nvSpPr>
        <p:spPr>
          <a:xfrm>
            <a:off x="5502749" y="134466"/>
            <a:ext cx="1713611" cy="9659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b="1" dirty="0"/>
              <a:t>ONNX Runtime .onnx file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5E6C299-ADF2-DE0A-2353-D7CA0F83281C}"/>
              </a:ext>
            </a:extLst>
          </p:cNvPr>
          <p:cNvSpPr/>
          <p:nvPr/>
        </p:nvSpPr>
        <p:spPr>
          <a:xfrm>
            <a:off x="7754587" y="134462"/>
            <a:ext cx="1935678" cy="9659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b="1" dirty="0"/>
              <a:t>HailoRT .hef file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DC4BD53-543A-1EDA-5379-D678674C35EB}"/>
              </a:ext>
            </a:extLst>
          </p:cNvPr>
          <p:cNvSpPr/>
          <p:nvPr/>
        </p:nvSpPr>
        <p:spPr>
          <a:xfrm>
            <a:off x="10170991" y="134461"/>
            <a:ext cx="1685130" cy="9659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b="1" dirty="0"/>
              <a:t>ExecuTorch .pte file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5031318-F604-294C-0571-7C09F1DFC076}"/>
              </a:ext>
            </a:extLst>
          </p:cNvPr>
          <p:cNvCxnSpPr>
            <a:cxnSpLocks/>
            <a:stCxn id="5" idx="2"/>
            <a:endCxn id="4" idx="0"/>
          </p:cNvCxnSpPr>
          <p:nvPr/>
        </p:nvCxnSpPr>
        <p:spPr>
          <a:xfrm>
            <a:off x="6359555" y="1100388"/>
            <a:ext cx="2384643" cy="9659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737B170-6BC1-0A0E-D398-A3D9E358F1FA}"/>
              </a:ext>
            </a:extLst>
          </p:cNvPr>
          <p:cNvCxnSpPr>
            <a:cxnSpLocks/>
            <a:stCxn id="6" idx="2"/>
            <a:endCxn id="4" idx="0"/>
          </p:cNvCxnSpPr>
          <p:nvPr/>
        </p:nvCxnSpPr>
        <p:spPr>
          <a:xfrm>
            <a:off x="8722426" y="1100385"/>
            <a:ext cx="21772" cy="9659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78590BD-9C21-963B-32CC-A4444FAC021F}"/>
              </a:ext>
            </a:extLst>
          </p:cNvPr>
          <p:cNvCxnSpPr>
            <a:cxnSpLocks/>
            <a:stCxn id="7" idx="2"/>
            <a:endCxn id="4" idx="0"/>
          </p:cNvCxnSpPr>
          <p:nvPr/>
        </p:nvCxnSpPr>
        <p:spPr>
          <a:xfrm flipH="1">
            <a:off x="8744198" y="1100384"/>
            <a:ext cx="2269358" cy="9659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BF139AB-FCEE-DF72-DDE2-A04F65D2D024}"/>
              </a:ext>
            </a:extLst>
          </p:cNvPr>
          <p:cNvSpPr txBox="1"/>
          <p:nvPr/>
        </p:nvSpPr>
        <p:spPr>
          <a:xfrm>
            <a:off x="5781355" y="1474243"/>
            <a:ext cx="1584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U" dirty="0"/>
              <a:t>Model loading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79422BA-EF98-9A05-4CE4-26934E183A25}"/>
              </a:ext>
            </a:extLst>
          </p:cNvPr>
          <p:cNvCxnSpPr>
            <a:cxnSpLocks/>
            <a:stCxn id="4" idx="2"/>
            <a:endCxn id="16" idx="0"/>
          </p:cNvCxnSpPr>
          <p:nvPr/>
        </p:nvCxnSpPr>
        <p:spPr>
          <a:xfrm flipH="1">
            <a:off x="6343564" y="3835729"/>
            <a:ext cx="2400634" cy="4024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D94F81-CD8D-DB49-915F-DFF9BE9D9633}"/>
              </a:ext>
            </a:extLst>
          </p:cNvPr>
          <p:cNvCxnSpPr>
            <a:cxnSpLocks/>
            <a:stCxn id="4" idx="2"/>
            <a:endCxn id="17" idx="0"/>
          </p:cNvCxnSpPr>
          <p:nvPr/>
        </p:nvCxnSpPr>
        <p:spPr>
          <a:xfrm>
            <a:off x="8744198" y="3835729"/>
            <a:ext cx="0" cy="41861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784C31B-A766-9610-04E6-7E73C5B89017}"/>
              </a:ext>
            </a:extLst>
          </p:cNvPr>
          <p:cNvCxnSpPr>
            <a:cxnSpLocks/>
            <a:stCxn id="4" idx="2"/>
            <a:endCxn id="18" idx="0"/>
          </p:cNvCxnSpPr>
          <p:nvPr/>
        </p:nvCxnSpPr>
        <p:spPr>
          <a:xfrm>
            <a:off x="8744198" y="3835729"/>
            <a:ext cx="2422529" cy="41861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39B3FE9-0CC3-42DD-46CD-A764B11ECDF0}"/>
              </a:ext>
            </a:extLst>
          </p:cNvPr>
          <p:cNvSpPr txBox="1"/>
          <p:nvPr/>
        </p:nvSpPr>
        <p:spPr>
          <a:xfrm>
            <a:off x="8883316" y="3924371"/>
            <a:ext cx="1124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U" dirty="0"/>
              <a:t>Inference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0FBF3DF-C1AB-383C-5FF3-3B3484667136}"/>
              </a:ext>
            </a:extLst>
          </p:cNvPr>
          <p:cNvSpPr/>
          <p:nvPr/>
        </p:nvSpPr>
        <p:spPr>
          <a:xfrm>
            <a:off x="5551520" y="4238152"/>
            <a:ext cx="1584088" cy="8147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b="1" dirty="0"/>
              <a:t>ONNX Runtime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4CDD73E-68F5-E453-F1B7-C2EAE760A620}"/>
              </a:ext>
            </a:extLst>
          </p:cNvPr>
          <p:cNvSpPr/>
          <p:nvPr/>
        </p:nvSpPr>
        <p:spPr>
          <a:xfrm>
            <a:off x="7901633" y="4254340"/>
            <a:ext cx="1685130" cy="8147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b="1" dirty="0"/>
              <a:t>HailoRT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4E867F6-F8EA-0C3F-E43F-5158257BFCD1}"/>
              </a:ext>
            </a:extLst>
          </p:cNvPr>
          <p:cNvSpPr/>
          <p:nvPr/>
        </p:nvSpPr>
        <p:spPr>
          <a:xfrm>
            <a:off x="10428563" y="4254340"/>
            <a:ext cx="1476327" cy="7986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b="1" dirty="0"/>
              <a:t>ExecuTorch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D7107D-F1B6-404C-A179-10C74ADE3BBE}"/>
              </a:ext>
            </a:extLst>
          </p:cNvPr>
          <p:cNvSpPr/>
          <p:nvPr/>
        </p:nvSpPr>
        <p:spPr>
          <a:xfrm>
            <a:off x="365667" y="1217587"/>
            <a:ext cx="4851498" cy="552759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 b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HU" b="1" dirty="0">
                <a:solidFill>
                  <a:schemeClr val="tx1"/>
                </a:solidFill>
                <a:cs typeface="Consolas" panose="020B0609020204030204" pitchFamily="49" charset="0"/>
              </a:rPr>
              <a:t>ONNX Runtime</a:t>
            </a:r>
            <a:r>
              <a:rPr lang="en-HU" dirty="0">
                <a:solidFill>
                  <a:schemeClr val="tx1"/>
                </a:solidFill>
                <a:cs typeface="Consolas" panose="020B0609020204030204" pitchFamily="49" charset="0"/>
              </a:rPr>
              <a:t>: our current in-pipeline inference</a:t>
            </a:r>
          </a:p>
          <a:p>
            <a:pPr algn="ctr"/>
            <a:endParaRPr lang="en-HU" dirty="0">
              <a:solidFill>
                <a:schemeClr val="tx1"/>
              </a:solidFill>
              <a:cs typeface="Consolas" panose="020B0609020204030204" pitchFamily="49" charset="0"/>
            </a:endParaRPr>
          </a:p>
          <a:p>
            <a:pPr algn="ctr"/>
            <a:r>
              <a:rPr lang="en-HU" b="1" dirty="0">
                <a:solidFill>
                  <a:schemeClr val="tx1"/>
                </a:solidFill>
                <a:cs typeface="Consolas" panose="020B0609020204030204" pitchFamily="49" charset="0"/>
              </a:rPr>
              <a:t>HailoRT</a:t>
            </a:r>
            <a:r>
              <a:rPr lang="en-HU" dirty="0">
                <a:solidFill>
                  <a:schemeClr val="tx1"/>
                </a:solidFill>
                <a:cs typeface="Consolas" panose="020B0609020204030204" pitchFamily="49" charset="0"/>
              </a:rPr>
              <a:t>: hardware accelerated inference on Raspberry PI 5, currently under integration</a:t>
            </a:r>
          </a:p>
          <a:p>
            <a:pPr algn="ctr"/>
            <a:endParaRPr lang="en-HU" dirty="0">
              <a:solidFill>
                <a:schemeClr val="tx1"/>
              </a:solidFill>
              <a:cs typeface="Consolas" panose="020B0609020204030204" pitchFamily="49" charset="0"/>
            </a:endParaRPr>
          </a:p>
          <a:p>
            <a:pPr algn="ctr"/>
            <a:r>
              <a:rPr lang="en-HU" b="1" dirty="0">
                <a:solidFill>
                  <a:schemeClr val="tx1"/>
                </a:solidFill>
                <a:cs typeface="Consolas" panose="020B0609020204030204" pitchFamily="49" charset="0"/>
              </a:rPr>
              <a:t>ExecuTorch</a:t>
            </a:r>
            <a:r>
              <a:rPr lang="en-HU" dirty="0">
                <a:solidFill>
                  <a:schemeClr val="tx1"/>
                </a:solidFill>
                <a:cs typeface="Consolas" panose="020B0609020204030204" pitchFamily="49" charset="0"/>
              </a:rPr>
              <a:t>: new engine, maybe our default in the future, integration in Q2</a:t>
            </a:r>
          </a:p>
          <a:p>
            <a:pPr algn="ctr"/>
            <a:endParaRPr lang="en-HU" dirty="0">
              <a:solidFill>
                <a:schemeClr val="tx1"/>
              </a:solidFill>
              <a:cs typeface="Consolas" panose="020B0609020204030204" pitchFamily="49" charset="0"/>
            </a:endParaRPr>
          </a:p>
          <a:p>
            <a:pPr algn="ctr"/>
            <a:r>
              <a:rPr lang="en-HU" b="1" dirty="0">
                <a:solidFill>
                  <a:schemeClr val="tx1"/>
                </a:solidFill>
                <a:cs typeface="Consolas" panose="020B0609020204030204" pitchFamily="49" charset="0"/>
              </a:rPr>
              <a:t>FEATURES</a:t>
            </a:r>
          </a:p>
          <a:p>
            <a:pPr algn="ctr"/>
            <a:endParaRPr lang="en-HU" dirty="0">
              <a:solidFill>
                <a:schemeClr val="tx1"/>
              </a:solidFill>
              <a:cs typeface="Consolas" panose="020B0609020204030204" pitchFamily="49" charset="0"/>
            </a:endParaRPr>
          </a:p>
          <a:p>
            <a:pPr algn="ctr"/>
            <a:r>
              <a:rPr lang="en-HU" b="1" dirty="0">
                <a:solidFill>
                  <a:schemeClr val="tx1"/>
                </a:solidFill>
                <a:cs typeface="Consolas" panose="020B0609020204030204" pitchFamily="49" charset="0"/>
              </a:rPr>
              <a:t>Configurable</a:t>
            </a:r>
            <a:r>
              <a:rPr lang="en-HU" dirty="0">
                <a:solidFill>
                  <a:schemeClr val="tx1"/>
                </a:solidFill>
                <a:cs typeface="Consolas" panose="020B0609020204030204" pitchFamily="49" charset="0"/>
              </a:rPr>
              <a:t> model handling (via model meta JSON files)</a:t>
            </a:r>
          </a:p>
          <a:p>
            <a:pPr algn="ctr"/>
            <a:endParaRPr lang="en-HU" dirty="0">
              <a:solidFill>
                <a:schemeClr val="tx1"/>
              </a:solidFill>
              <a:cs typeface="Consolas" panose="020B0609020204030204" pitchFamily="49" charset="0"/>
            </a:endParaRPr>
          </a:p>
          <a:p>
            <a:pPr algn="ctr"/>
            <a:r>
              <a:rPr lang="en-HU" b="1" dirty="0">
                <a:solidFill>
                  <a:schemeClr val="tx1"/>
                </a:solidFill>
                <a:cs typeface="Consolas" panose="020B0609020204030204" pitchFamily="49" charset="0"/>
              </a:rPr>
              <a:t>Modularized</a:t>
            </a:r>
            <a:r>
              <a:rPr lang="en-HU" dirty="0">
                <a:solidFill>
                  <a:schemeClr val="tx1"/>
                </a:solidFill>
                <a:cs typeface="Consolas" panose="020B0609020204030204" pitchFamily="49" charset="0"/>
              </a:rPr>
              <a:t>, easy to add/remove features</a:t>
            </a:r>
          </a:p>
          <a:p>
            <a:pPr algn="ctr"/>
            <a:endParaRPr lang="en-HU" dirty="0">
              <a:solidFill>
                <a:schemeClr val="tx1"/>
              </a:solidFill>
              <a:cs typeface="Consolas" panose="020B0609020204030204" pitchFamily="49" charset="0"/>
            </a:endParaRPr>
          </a:p>
          <a:p>
            <a:pPr algn="ctr"/>
            <a:r>
              <a:rPr lang="en-HU" dirty="0">
                <a:solidFill>
                  <a:schemeClr val="tx1"/>
                </a:solidFill>
                <a:cs typeface="Consolas" panose="020B0609020204030204" pitchFamily="49" charset="0"/>
              </a:rPr>
              <a:t>Standardized </a:t>
            </a:r>
            <a:r>
              <a:rPr lang="en-HU" b="1" dirty="0">
                <a:solidFill>
                  <a:schemeClr val="tx1"/>
                </a:solidFill>
                <a:cs typeface="Consolas" panose="020B0609020204030204" pitchFamily="49" charset="0"/>
              </a:rPr>
              <a:t>preprocessors</a:t>
            </a:r>
            <a:r>
              <a:rPr lang="en-HU" dirty="0">
                <a:solidFill>
                  <a:schemeClr val="tx1"/>
                </a:solidFill>
                <a:cs typeface="Consolas" panose="020B0609020204030204" pitchFamily="49" charset="0"/>
              </a:rPr>
              <a:t> and </a:t>
            </a:r>
            <a:r>
              <a:rPr lang="en-HU" b="1" dirty="0">
                <a:solidFill>
                  <a:schemeClr val="tx1"/>
                </a:solidFill>
                <a:cs typeface="Consolas" panose="020B0609020204030204" pitchFamily="49" charset="0"/>
              </a:rPr>
              <a:t>postprocessors</a:t>
            </a:r>
          </a:p>
          <a:p>
            <a:pPr algn="ctr"/>
            <a:endParaRPr lang="en-HU" dirty="0">
              <a:solidFill>
                <a:schemeClr val="tx1"/>
              </a:solidFill>
              <a:cs typeface="Consolas" panose="020B0609020204030204" pitchFamily="49" charset="0"/>
            </a:endParaRPr>
          </a:p>
          <a:p>
            <a:pPr algn="ctr"/>
            <a:r>
              <a:rPr lang="en-HU" b="1" dirty="0">
                <a:solidFill>
                  <a:schemeClr val="tx1"/>
                </a:solidFill>
                <a:cs typeface="Consolas" panose="020B0609020204030204" pitchFamily="49" charset="0"/>
              </a:rPr>
              <a:t>Quantization-agnostic</a:t>
            </a:r>
            <a:r>
              <a:rPr lang="en-HU" dirty="0">
                <a:solidFill>
                  <a:schemeClr val="tx1"/>
                </a:solidFill>
                <a:cs typeface="Consolas" panose="020B0609020204030204" pitchFamily="49" charset="0"/>
              </a:rPr>
              <a:t> code and APIs</a:t>
            </a:r>
          </a:p>
          <a:p>
            <a:pPr algn="ctr"/>
            <a:endParaRPr lang="en-HU" b="1" u="sng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DF143B9-3749-487F-C0BC-3B8682187316}"/>
              </a:ext>
            </a:extLst>
          </p:cNvPr>
          <p:cNvCxnSpPr>
            <a:cxnSpLocks/>
            <a:stCxn id="16" idx="2"/>
            <a:endCxn id="23" idx="0"/>
          </p:cNvCxnSpPr>
          <p:nvPr/>
        </p:nvCxnSpPr>
        <p:spPr>
          <a:xfrm>
            <a:off x="6343564" y="5052948"/>
            <a:ext cx="2400634" cy="6536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EAE7024-F2AB-D4C1-723C-56EFBD39F634}"/>
              </a:ext>
            </a:extLst>
          </p:cNvPr>
          <p:cNvCxnSpPr>
            <a:cxnSpLocks/>
            <a:stCxn id="17" idx="2"/>
            <a:endCxn id="23" idx="0"/>
          </p:cNvCxnSpPr>
          <p:nvPr/>
        </p:nvCxnSpPr>
        <p:spPr>
          <a:xfrm>
            <a:off x="8744198" y="5069136"/>
            <a:ext cx="0" cy="6374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B75F310-942F-A179-0256-16A947AB72B5}"/>
              </a:ext>
            </a:extLst>
          </p:cNvPr>
          <p:cNvCxnSpPr>
            <a:cxnSpLocks/>
            <a:stCxn id="18" idx="2"/>
            <a:endCxn id="23" idx="0"/>
          </p:cNvCxnSpPr>
          <p:nvPr/>
        </p:nvCxnSpPr>
        <p:spPr>
          <a:xfrm flipH="1">
            <a:off x="8744198" y="5052944"/>
            <a:ext cx="2422529" cy="6536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AEA8314-6DA3-2A72-E50C-90D750BB1DDD}"/>
              </a:ext>
            </a:extLst>
          </p:cNvPr>
          <p:cNvSpPr/>
          <p:nvPr/>
        </p:nvSpPr>
        <p:spPr>
          <a:xfrm>
            <a:off x="6772344" y="5706604"/>
            <a:ext cx="3943707" cy="814796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b="1" dirty="0"/>
              <a:t>Inference result metadata</a:t>
            </a:r>
          </a:p>
          <a:p>
            <a:pPr algn="ctr"/>
            <a:r>
              <a:rPr lang="en-HU" sz="1400" dirty="0"/>
              <a:t>API agnostic</a:t>
            </a:r>
          </a:p>
          <a:p>
            <a:pPr algn="ctr"/>
            <a:r>
              <a:rPr lang="en-HU" sz="1400" dirty="0"/>
              <a:t>Simple user-friendly: bounding boxes, text, etc.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6F6897-5069-050E-5F73-2691BD4FE637}"/>
              </a:ext>
            </a:extLst>
          </p:cNvPr>
          <p:cNvSpPr txBox="1"/>
          <p:nvPr/>
        </p:nvSpPr>
        <p:spPr>
          <a:xfrm>
            <a:off x="5564155" y="5235819"/>
            <a:ext cx="1713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U" dirty="0"/>
              <a:t>Postprocessing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9604B37-B592-5D64-16F0-B918A0F4BD49}"/>
              </a:ext>
            </a:extLst>
          </p:cNvPr>
          <p:cNvSpPr txBox="1"/>
          <p:nvPr/>
        </p:nvSpPr>
        <p:spPr>
          <a:xfrm>
            <a:off x="561072" y="17257"/>
            <a:ext cx="44967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HU" sz="3600" b="1" dirty="0">
                <a:latin typeface="Consolas" panose="020B0609020204030204" pitchFamily="49" charset="0"/>
                <a:cs typeface="Consolas" panose="020B0609020204030204" pitchFamily="49" charset="0"/>
              </a:rPr>
              <a:t>Inference Engine Abstraction</a:t>
            </a:r>
          </a:p>
        </p:txBody>
      </p:sp>
    </p:spTree>
    <p:extLst>
      <p:ext uri="{BB962C8B-B14F-4D97-AF65-F5344CB8AC3E}">
        <p14:creationId xmlns:p14="http://schemas.microsoft.com/office/powerpoint/2010/main" val="1085443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2A4883-7906-8A6A-F332-B60FE81DA46D}"/>
              </a:ext>
            </a:extLst>
          </p:cNvPr>
          <p:cNvSpPr txBox="1"/>
          <p:nvPr/>
        </p:nvSpPr>
        <p:spPr>
          <a:xfrm>
            <a:off x="3391201" y="161719"/>
            <a:ext cx="5687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HU" sz="3600" b="1" dirty="0">
                <a:latin typeface="Consolas" panose="020B0609020204030204" pitchFamily="49" charset="0"/>
                <a:cs typeface="Consolas" panose="020B0609020204030204" pitchFamily="49" charset="0"/>
              </a:rPr>
              <a:t>Bring Your Own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8AB284-88DF-0621-AA5C-C638D87782E1}"/>
              </a:ext>
            </a:extLst>
          </p:cNvPr>
          <p:cNvSpPr txBox="1"/>
          <p:nvPr/>
        </p:nvSpPr>
        <p:spPr>
          <a:xfrm>
            <a:off x="831788" y="808050"/>
            <a:ext cx="55457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U" b="1" dirty="0"/>
              <a:t>Requirements</a:t>
            </a:r>
          </a:p>
          <a:p>
            <a:pPr marL="285750" indent="-285750">
              <a:buFontTx/>
              <a:buChar char="-"/>
            </a:pPr>
            <a:r>
              <a:rPr lang="en-HU" dirty="0"/>
              <a:t>Often appears as a required feature</a:t>
            </a:r>
          </a:p>
          <a:p>
            <a:pPr marL="285750" indent="-285750">
              <a:buFontTx/>
              <a:buChar char="-"/>
            </a:pPr>
            <a:r>
              <a:rPr lang="en-HU" dirty="0"/>
              <a:t>Rarely mentioned that models need custom postprocessing</a:t>
            </a:r>
          </a:p>
          <a:p>
            <a:pPr marL="285750" indent="-285750">
              <a:buFontTx/>
              <a:buChar char="-"/>
            </a:pPr>
            <a:r>
              <a:rPr lang="en-HU" dirty="0"/>
              <a:t>How to support non-developers?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0F411B-4A13-7F3D-917F-A3FC1E5059DB}"/>
              </a:ext>
            </a:extLst>
          </p:cNvPr>
          <p:cNvSpPr txBox="1"/>
          <p:nvPr/>
        </p:nvSpPr>
        <p:spPr>
          <a:xfrm>
            <a:off x="831787" y="2338144"/>
            <a:ext cx="55457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U" b="1" dirty="0"/>
              <a:t>Features that support this</a:t>
            </a:r>
          </a:p>
          <a:p>
            <a:pPr marL="285750" indent="-285750">
              <a:buFontTx/>
              <a:buChar char="-"/>
            </a:pPr>
            <a:r>
              <a:rPr lang="en-HU" dirty="0"/>
              <a:t>Versatile, configurable pre-written postprocessors to support model-family outputs</a:t>
            </a:r>
          </a:p>
          <a:p>
            <a:pPr marL="285750" indent="-285750">
              <a:buFontTx/>
              <a:buChar char="-"/>
            </a:pPr>
            <a:r>
              <a:rPr lang="en-HU" dirty="0"/>
              <a:t>Simple interfaces to implement custom postprocessors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EF0875-8081-AF59-8403-EF11F65C581C}"/>
              </a:ext>
            </a:extLst>
          </p:cNvPr>
          <p:cNvSpPr txBox="1"/>
          <p:nvPr/>
        </p:nvSpPr>
        <p:spPr>
          <a:xfrm>
            <a:off x="831786" y="3902062"/>
            <a:ext cx="554577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U" b="1" dirty="0"/>
              <a:t>Python interface</a:t>
            </a:r>
          </a:p>
          <a:p>
            <a:pPr marL="285750" indent="-285750">
              <a:buFontTx/>
              <a:buChar char="-"/>
            </a:pPr>
            <a:r>
              <a:rPr lang="en-HU" dirty="0"/>
              <a:t>An interface that calls into Python code when postprocessing needed</a:t>
            </a:r>
          </a:p>
          <a:p>
            <a:pPr marL="285750" indent="-285750">
              <a:buFontTx/>
              <a:buChar char="-"/>
            </a:pPr>
            <a:r>
              <a:rPr lang="en-HU" dirty="0"/>
              <a:t>C++ provides the output tensor to Python, Python produces the detection metadata</a:t>
            </a:r>
          </a:p>
          <a:p>
            <a:pPr marL="285750" indent="-285750">
              <a:buFontTx/>
              <a:buChar char="-"/>
            </a:pPr>
            <a:r>
              <a:rPr lang="en-HU" dirty="0"/>
              <a:t>Simple interface for Python postprocessor</a:t>
            </a:r>
          </a:p>
          <a:p>
            <a:pPr marL="742950" lvl="1" indent="-285750">
              <a:buFontTx/>
              <a:buChar char="-"/>
            </a:pPr>
            <a:r>
              <a:rPr lang="en-HU" dirty="0"/>
              <a:t>Easy access for quantization agnostic input</a:t>
            </a:r>
          </a:p>
          <a:p>
            <a:pPr marL="742950" lvl="1" indent="-285750">
              <a:buFontTx/>
              <a:buChar char="-"/>
            </a:pPr>
            <a:r>
              <a:rPr lang="en-HU" dirty="0"/>
              <a:t>Easy way to store processed meta</a:t>
            </a:r>
          </a:p>
          <a:p>
            <a:pPr marL="742950" lvl="1" indent="-285750">
              <a:buFontTx/>
              <a:buChar char="-"/>
            </a:pPr>
            <a:r>
              <a:rPr lang="en-HU" dirty="0"/>
              <a:t>More accessible for ML engineers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5DF714A-BF3B-CD2F-B854-A38B9DD17DE0}"/>
              </a:ext>
            </a:extLst>
          </p:cNvPr>
          <p:cNvSpPr/>
          <p:nvPr/>
        </p:nvSpPr>
        <p:spPr>
          <a:xfrm>
            <a:off x="8133055" y="5160112"/>
            <a:ext cx="2166964" cy="87361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b="1" dirty="0"/>
              <a:t>Python postprocess</a:t>
            </a:r>
            <a:endParaRPr lang="en-HU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946CCDA-60B2-C70A-EBA5-EF0041E70517}"/>
              </a:ext>
            </a:extLst>
          </p:cNvPr>
          <p:cNvSpPr/>
          <p:nvPr/>
        </p:nvSpPr>
        <p:spPr>
          <a:xfrm>
            <a:off x="6433456" y="1726720"/>
            <a:ext cx="1614097" cy="76704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b="1" dirty="0"/>
              <a:t>C++ inference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0F982C9-BDF4-982C-E531-980F80287FDB}"/>
              </a:ext>
            </a:extLst>
          </p:cNvPr>
          <p:cNvSpPr/>
          <p:nvPr/>
        </p:nvSpPr>
        <p:spPr>
          <a:xfrm>
            <a:off x="8409489" y="1725341"/>
            <a:ext cx="1614096" cy="76704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b="1" dirty="0"/>
              <a:t>C++ postprocess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F8EDAEF-84F4-88A5-AC27-9FB3CC1954FE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8047553" y="2108864"/>
            <a:ext cx="361936" cy="13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CC3944C-C455-FDC9-03ED-212E3230F5B9}"/>
              </a:ext>
            </a:extLst>
          </p:cNvPr>
          <p:cNvSpPr/>
          <p:nvPr/>
        </p:nvSpPr>
        <p:spPr>
          <a:xfrm>
            <a:off x="10385522" y="1725340"/>
            <a:ext cx="1614097" cy="76704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b="1" dirty="0"/>
              <a:t>Inferred Meta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AD94892-7335-E660-5894-F18F18D25E9E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 flipV="1">
            <a:off x="10023585" y="2108863"/>
            <a:ext cx="361937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5935E-EE51-9D10-9D4C-F7A695F4A6C5}"/>
              </a:ext>
            </a:extLst>
          </p:cNvPr>
          <p:cNvSpPr/>
          <p:nvPr/>
        </p:nvSpPr>
        <p:spPr>
          <a:xfrm>
            <a:off x="6433456" y="3903442"/>
            <a:ext cx="1614097" cy="76704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b="1" dirty="0"/>
              <a:t>C++ inference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5488A8E-F3DA-795C-FCB6-FB98D0DF1EDB}"/>
              </a:ext>
            </a:extLst>
          </p:cNvPr>
          <p:cNvSpPr/>
          <p:nvPr/>
        </p:nvSpPr>
        <p:spPr>
          <a:xfrm>
            <a:off x="10385522" y="3902062"/>
            <a:ext cx="1614097" cy="76704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b="1" dirty="0"/>
              <a:t>Inferred Meta</a:t>
            </a:r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A8869D92-5168-A27A-3E9E-AC1A6CBAB459}"/>
              </a:ext>
            </a:extLst>
          </p:cNvPr>
          <p:cNvCxnSpPr>
            <a:stCxn id="14" idx="2"/>
            <a:endCxn id="8" idx="1"/>
          </p:cNvCxnSpPr>
          <p:nvPr/>
        </p:nvCxnSpPr>
        <p:spPr>
          <a:xfrm rot="16200000" flipH="1">
            <a:off x="7223565" y="4687427"/>
            <a:ext cx="926430" cy="89255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BBC9AD5B-64B4-F27B-1255-042BD059A7A6}"/>
              </a:ext>
            </a:extLst>
          </p:cNvPr>
          <p:cNvCxnSpPr>
            <a:stCxn id="8" idx="3"/>
            <a:endCxn id="15" idx="2"/>
          </p:cNvCxnSpPr>
          <p:nvPr/>
        </p:nvCxnSpPr>
        <p:spPr>
          <a:xfrm flipV="1">
            <a:off x="10300019" y="4669107"/>
            <a:ext cx="892552" cy="92781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D6E16A7-5F06-34B4-6DC9-779EB397DF22}"/>
              </a:ext>
            </a:extLst>
          </p:cNvPr>
          <p:cNvSpPr txBox="1"/>
          <p:nvPr/>
        </p:nvSpPr>
        <p:spPr>
          <a:xfrm>
            <a:off x="6856018" y="1089124"/>
            <a:ext cx="4981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U" b="1" dirty="0"/>
              <a:t>Simple method – with fast C++ postprocessors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EB1ECD-3AE0-D1A4-4C58-EA566164FCC1}"/>
              </a:ext>
            </a:extLst>
          </p:cNvPr>
          <p:cNvSpPr txBox="1"/>
          <p:nvPr/>
        </p:nvSpPr>
        <p:spPr>
          <a:xfrm>
            <a:off x="8094915" y="3280591"/>
            <a:ext cx="2503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U" b="1" dirty="0"/>
              <a:t>Python-based method</a:t>
            </a:r>
          </a:p>
        </p:txBody>
      </p:sp>
    </p:spTree>
    <p:extLst>
      <p:ext uri="{BB962C8B-B14F-4D97-AF65-F5344CB8AC3E}">
        <p14:creationId xmlns:p14="http://schemas.microsoft.com/office/powerpoint/2010/main" val="2023222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363</Words>
  <Application>Microsoft Macintosh PowerPoint</Application>
  <PresentationFormat>Widescreen</PresentationFormat>
  <Paragraphs>119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Tamas Kulcsar</dc:creator>
  <cp:lastModifiedBy>Tamas Kulcsar</cp:lastModifiedBy>
  <cp:revision>2</cp:revision>
  <dcterms:created xsi:type="dcterms:W3CDTF">2026-02-13T08:17:50Z</dcterms:created>
  <dcterms:modified xsi:type="dcterms:W3CDTF">2026-02-13T13:26:59Z</dcterms:modified>
</cp:coreProperties>
</file>